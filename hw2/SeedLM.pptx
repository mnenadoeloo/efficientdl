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4"/>
                </a:solidFill>
                <a:latin typeface="Calibri"/>
              </a:defRPr>
            </a:pPr>
            <a:r>
              <a:rPr lang="ru-RU" sz="1200" b="0" i="0" u="none" strike="noStrike">
                <a:solidFill>
                  <a:srgbClr val="1B1F24"/>
                </a:solidFill>
                <a:latin typeface="Calibri"/>
              </a:rPr>
              <a:t>Ошибка восстановления блока при 3 битах на вес, %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Ошибка, %</c:v>
                </c:pt>
              </c:strCache>
            </c:strRef>
          </c:tx>
          <c:spPr>
            <a:ln w="31750" cap="flat">
              <a:solidFill>
                <a:srgbClr val="1F4E9C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F4E9C"/>
              </a:solidFill>
              <a:ln w="9525" cap="flat">
                <a:solidFill>
                  <a:srgbClr val="1F4E9C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13</c:v>
                </c:pt>
                <c:pt idx="6">
                  <c:v>14</c:v>
                </c:pt>
                <c:pt idx="7">
                  <c:v>15</c:v>
                </c:pt>
                <c:pt idx="8">
                  <c:v>16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9.01</c:v>
                </c:pt>
                <c:pt idx="1">
                  <c:v>8.2100000000000009</c:v>
                </c:pt>
                <c:pt idx="2">
                  <c:v>7.34</c:v>
                </c:pt>
                <c:pt idx="3">
                  <c:v>6.9</c:v>
                </c:pt>
                <c:pt idx="4">
                  <c:v>6.31</c:v>
                </c:pt>
                <c:pt idx="5">
                  <c:v>5.86</c:v>
                </c:pt>
                <c:pt idx="6">
                  <c:v>5.72</c:v>
                </c:pt>
                <c:pt idx="7">
                  <c:v>5.61</c:v>
                </c:pt>
                <c:pt idx="8">
                  <c:v>5.0199999999999996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A77-9C42-910E-34BB614C9E7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Arial"/>
                  </a:defRPr>
                </a:pPr>
                <a:r>
                  <a:rPr lang="ru-RU" sz="1000" b="0" i="0" u="none" strike="noStrike">
                    <a:solidFill>
                      <a:srgbClr val="5F6B7A"/>
                    </a:solidFill>
                    <a:latin typeface="Arial"/>
                  </a:rPr>
                  <a:t>длина </a:t>
                </a:r>
                <a:r>
                  <a:rPr lang="fr-FR" sz="1000" b="0" i="0" u="none" strike="noStrike">
                    <a:solidFill>
                      <a:srgbClr val="5F6B7A"/>
                    </a:solidFill>
                    <a:latin typeface="Arial"/>
                  </a:rPr>
                  <a:t>seed K, </a:t>
                </a:r>
                <a:r>
                  <a:rPr lang="ru-RU" sz="1000" b="0" i="0" u="none" strike="noStrike">
                    <a:solidFill>
                      <a:srgbClr val="5F6B7A"/>
                    </a:solidFill>
                    <a:latin typeface="Arial"/>
                  </a:rPr>
                  <a:t>бит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9525" cap="flat">
              <a:solidFill>
                <a:srgbClr val="E6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SeedLM (без данных)</c:v>
                </c:pt>
              </c:strCache>
            </c:strRef>
          </c:tx>
          <c:spPr>
            <a:solidFill>
              <a:srgbClr val="1F4E9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8B, 4 бита</c:v>
                </c:pt>
                <c:pt idx="1">
                  <c:v>14B, 4 бита</c:v>
                </c:pt>
                <c:pt idx="2">
                  <c:v>8B, 3 бита</c:v>
                </c:pt>
                <c:pt idx="3">
                  <c:v>14B, 3 бита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98.6</c:v>
                </c:pt>
                <c:pt idx="2">
                  <c:v>82.8</c:v>
                </c:pt>
                <c:pt idx="3">
                  <c:v>90.3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4D-9B4C-8117-26B69AC5C7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QuIP#</c:v>
                </c:pt>
              </c:strCache>
            </c:strRef>
          </c:tx>
          <c:spPr>
            <a:solidFill>
              <a:srgbClr val="3C4650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8B, 4 бита</c:v>
                </c:pt>
                <c:pt idx="1">
                  <c:v>14B, 4 бита</c:v>
                </c:pt>
                <c:pt idx="2">
                  <c:v>8B, 3 бита</c:v>
                </c:pt>
                <c:pt idx="3">
                  <c:v>14B, 3 бита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99.9</c:v>
                </c:pt>
                <c:pt idx="1">
                  <c:v>99.1</c:v>
                </c:pt>
                <c:pt idx="2">
                  <c:v>98.9</c:v>
                </c:pt>
                <c:pt idx="3">
                  <c:v>98.8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44D-9B4C-8117-26B69AC5C7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OmniQuant</c:v>
                </c:pt>
              </c:strCache>
            </c:strRef>
          </c:tx>
          <c:spPr>
            <a:solidFill>
              <a:srgbClr val="6E7B8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8B, 4 бита</c:v>
                </c:pt>
                <c:pt idx="1">
                  <c:v>14B, 4 бита</c:v>
                </c:pt>
                <c:pt idx="2">
                  <c:v>8B, 3 бита</c:v>
                </c:pt>
                <c:pt idx="3">
                  <c:v>14B, 3 бита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97</c:v>
                </c:pt>
                <c:pt idx="1">
                  <c:v>98.6</c:v>
                </c:pt>
                <c:pt idx="2">
                  <c:v>90.9</c:v>
                </c:pt>
                <c:pt idx="3">
                  <c:v>94.6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44D-9B4C-8117-26B69AC5C7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AWQ</c:v>
                </c:pt>
              </c:strCache>
            </c:strRef>
          </c:tx>
          <c:spPr>
            <a:solidFill>
              <a:srgbClr val="A3ABB8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8B, 4 бита</c:v>
                </c:pt>
                <c:pt idx="1">
                  <c:v>14B, 4 бита</c:v>
                </c:pt>
                <c:pt idx="2">
                  <c:v>8B, 3 бита</c:v>
                </c:pt>
                <c:pt idx="3">
                  <c:v>14B, 3 бита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96.1</c:v>
                </c:pt>
                <c:pt idx="1">
                  <c:v>98.4</c:v>
                </c:pt>
                <c:pt idx="2">
                  <c:v>79.8</c:v>
                </c:pt>
                <c:pt idx="3">
                  <c:v>82.8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44D-9B4C-8117-26B69AC5C75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RTN на канал (без данных)</c:v>
                </c:pt>
              </c:strCache>
            </c:strRef>
          </c:tx>
          <c:spPr>
            <a:solidFill>
              <a:srgbClr val="D5D9DF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8B, 4 бита</c:v>
                </c:pt>
                <c:pt idx="1">
                  <c:v>14B, 4 бита</c:v>
                </c:pt>
                <c:pt idx="2">
                  <c:v>8B, 3 бита</c:v>
                </c:pt>
                <c:pt idx="3">
                  <c:v>14B, 3 бита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92.8</c:v>
                </c:pt>
                <c:pt idx="1">
                  <c:v>94.7</c:v>
                </c:pt>
                <c:pt idx="2">
                  <c:v>47.3</c:v>
                </c:pt>
                <c:pt idx="3">
                  <c:v>53.8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44D-9B4C-8117-26B69AC5C7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E6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F2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4"/>
                </a:solidFill>
                <a:latin typeface="Calibri"/>
              </a:defRPr>
            </a:pPr>
            <a:r>
              <a:rPr lang="ru-RU" sz="1200" b="0" i="0" u="none" strike="noStrike" dirty="0">
                <a:solidFill>
                  <a:srgbClr val="1B1F24"/>
                </a:solidFill>
                <a:latin typeface="Calibri"/>
              </a:rPr>
              <a:t>Время </a:t>
            </a:r>
            <a:r>
              <a:rPr lang="fr-FR" sz="1200" b="0" i="0" u="none" strike="noStrike" dirty="0" err="1">
                <a:solidFill>
                  <a:srgbClr val="1B1F24"/>
                </a:solidFill>
                <a:latin typeface="Calibri"/>
              </a:rPr>
              <a:t>matvec</a:t>
            </a:r>
            <a:r>
              <a:rPr lang="fr-FR" sz="1200" b="0" i="0" u="none" strike="noStrike" dirty="0">
                <a:solidFill>
                  <a:srgbClr val="1B1F24"/>
                </a:solidFill>
                <a:latin typeface="Calibri"/>
              </a:rPr>
              <a:t>, </a:t>
            </a:r>
            <a:r>
              <a:rPr lang="ru-RU" sz="1200" b="0" i="0" u="none" strike="noStrike" dirty="0">
                <a:solidFill>
                  <a:srgbClr val="1B1F24"/>
                </a:solidFill>
                <a:latin typeface="Calibri"/>
              </a:rPr>
              <a:t>мкс (меньше - лучше)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BF16</c:v>
                </c:pt>
              </c:strCache>
            </c:strRef>
          </c:tx>
          <c:spPr>
            <a:solidFill>
              <a:srgbClr val="A3ABB8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4096 × 4096</c:v>
                </c:pt>
                <c:pt idx="1">
                  <c:v>8192 × 8192</c:v>
                </c:pt>
                <c:pt idx="2">
                  <c:v>17408 × 5120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</c:v>
                </c:pt>
                <c:pt idx="1">
                  <c:v>113</c:v>
                </c:pt>
                <c:pt idx="2">
                  <c:v>147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72-594B-9771-F6B1815BC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int4 (наше ядро)</c:v>
                </c:pt>
              </c:strCache>
            </c:strRef>
          </c:tx>
          <c:spPr>
            <a:solidFill>
              <a:srgbClr val="6E7B8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4096 × 4096</c:v>
                </c:pt>
                <c:pt idx="1">
                  <c:v>8192 × 8192</c:v>
                </c:pt>
                <c:pt idx="2">
                  <c:v>17408 × 5120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62</c:v>
                </c:pt>
                <c:pt idx="1">
                  <c:v>114</c:v>
                </c:pt>
                <c:pt idx="2">
                  <c:v>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72-594B-9771-F6B1815BC4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SeedLM (декодирование в ядре)</c:v>
                </c:pt>
              </c:strCache>
            </c:strRef>
          </c:tx>
          <c:spPr>
            <a:solidFill>
              <a:srgbClr val="1F4E9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1F24"/>
                    </a:solidFill>
                    <a:latin typeface="Arial"/>
                  </a:defRPr>
                </a:pPr>
                <a:endParaRPr lang="ru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4096 × 4096</c:v>
                </c:pt>
                <c:pt idx="1">
                  <c:v>8192 × 8192</c:v>
                </c:pt>
                <c:pt idx="2">
                  <c:v>17408 × 5120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179</c:v>
                </c:pt>
                <c:pt idx="1">
                  <c:v>594</c:v>
                </c:pt>
                <c:pt idx="2">
                  <c:v>774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72-594B-9771-F6B1815BC4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F2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0"/>
          <c:min val="0"/>
        </c:scaling>
        <c:delete val="0"/>
        <c:axPos val="l"/>
        <c:majorGridlines>
          <c:spPr>
            <a:ln w="9525" cap="flat">
              <a:solidFill>
                <a:srgbClr val="E6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F2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9412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Доклад по статье Shafipour и др. (Apple, Meta), arXiv:2410.10714. Вторая половина доклада - наше воспроизведение на Qwen3.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каждого нового токена модель читает все веса. Вычислений на байт мало, поэтому скорость задаёт память. Статья приводит цифру Horowitz 2014: чтение из DRAM примерно в 800 раз дороже по энергии, чем 8-битное умножение.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Блок из 8 весов в FP16 занимает 128 бит. SeedLM хранит seed (16 бит), общий 4-битный экспонент и три 4-битных коэффициента: всего 32 бита. Сами 8 весов восстанавливаются: w ≈ U(seed) · t, где U выдаёт генератор LFSR.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 с K = 4: регистр из 4 бит проходит цикл из 15 состояний. Берём seed 5 и следующие 8 значений цикла: 11, 7, 15, 14, 12, 8, 1, 2. Нормируем (v - 8)/7 и раскладываем по строкам в матрицу 4 на 2. В статье K = 16: цикл из 65535 значений и матрица 8 на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Алгоритм 1 статьи. Для каждого блока из 8 весов перебираем все 65535 seed; для каждого находим коэффициенты по методу наименьших квадратов, округляем их до 4 бит и считаем ошибку. Оставляем seed с минимальной ошибкой. График справа - наш расчёт на гауссовых блоках при 3 битах на вес: чем длиннее seed, тем меньше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Бит на вес M = (K + 4 + 4P)/C. Для 4 бит статья берёт C = 8, P = 3, K = 16: (16 + 4 + 12)/8 = 4. Для 3 бит C = 12, P = 4, K = 16: (16 + 4 + 16)/12 = 3. Наш перебор подтвердил выбор для 3 бит; для 4 бит нашёл чуть более точные, но дороже по числу умножений на вес (P).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Retained accuracy - точность сжатой модели, делённая на точность FP16, в процентах. Данные из Рис. 1 статьи: среднее по пяти задачам. SeedLM не использует калибровочные данные, а AWQ и OmniQuant используют.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Дизайн на Virtex-7: из-за ширины шины DDR (64 байта за такт) FP16-версия читает 32 веса за такт и использует 32 из 128 умножителей. Версия SeedLM читает 128 весов за такт. Ускорение приближается к 4 раза с ростом матрицы. Цена - около 5,8 раз больше LUT и около 14,7 раз больше BRAM.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Наше воспроизведение на Qwen3. Retained - среднее zero-shot по ARC-E, ARC-C, HellaSwag, WinoGrande, BoolQ относительно BF16. Все методы занимают по 4,0 или 3,0 бита на вес. SeedLM и RTN не используют калибровочные данные, а AWQ, OmniQuant и QuIP# используют. Различия около 1 пункта на этих задачах находятся в пределах шума.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Перплексия WikiText-2, меньше - лучше. QuIP# почти не теряет качество даже на 3 битах. SeedLM на 4 битах в середине группы, на 3 битах заметно хуже OmniQuant и QuIP#. RTN с группой 128 занимает на 0,25 бита больше, остальные методы - ровно 4,0 или 3,0 бита.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Матрично-векторное умножение, batch 1. BF16 читает веса уже на скорости около 1,2 ТБ/с. Декодирование SeedLM (24 чтения таблицы LFSR и около сотни операций на 8 весов) упирается в вычисления, а не в память, поэтому выигрыша от чтения в 4 раза меньших данных нет. Наше простое int4-ядро тоже не быстрее BF16, значит ядра не оптимизированы. Утверждение про 4 раза относится к FPGA и нами не проверялось.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Итог. Подтвердили: SeedLM без данных на 4 битах близок к BF16, лучше RTN без групп, на 3 битах по zero-shot лучше AWQ; сжатие быстрое. Не подтвердили: что SeedLM лучше QuIP# и OmniQuant (на 3 битах они заметно точнее), и ускорение на GPU (A100 - в 5 раз медленнее BF16). Групповое квантование без калибровки (RTN g128) на 4 битах не хуже SeedLM, но занимает на 0,25 бита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0574" y="0"/>
            <a:ext cx="9164574" cy="5149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21444" y="1365365"/>
            <a:ext cx="3600450" cy="207164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1445" y="3536116"/>
            <a:ext cx="2873156" cy="112246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1444" y="164592"/>
            <a:ext cx="20278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26580" y="164592"/>
            <a:ext cx="112152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6654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13089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37184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1" y="8925"/>
            <a:ext cx="9144001" cy="514928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344440"/>
            <a:ext cx="4243851" cy="2018519"/>
          </a:xfrm>
        </p:spPr>
        <p:txBody>
          <a:bodyPr/>
          <a:lstStyle>
            <a:lvl1pPr>
              <a:defRPr sz="345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1698" y="387450"/>
            <a:ext cx="1945361" cy="122091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9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21699" y="164592"/>
            <a:ext cx="187803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1" y="164592"/>
            <a:ext cx="85978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24798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1714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47883"/>
            <a:ext cx="9141714" cy="1795618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825" y="3347883"/>
            <a:ext cx="2540890" cy="1795618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28242" y="164592"/>
            <a:ext cx="2055462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649571" y="164592"/>
            <a:ext cx="1468493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521647" y="164592"/>
            <a:ext cx="336604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03599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913587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85" y="3233854"/>
            <a:ext cx="6439003" cy="1776225"/>
          </a:xfrm>
        </p:spPr>
        <p:txBody>
          <a:bodyPr anchor="b">
            <a:normAutofit/>
          </a:bodyPr>
          <a:lstStyle>
            <a:lvl1pPr>
              <a:defRPr sz="5175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199213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4592"/>
            <a:ext cx="143494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4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0945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1"/>
            <a:ext cx="9144000" cy="21518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76" y="1604082"/>
            <a:ext cx="4824950" cy="1471612"/>
          </a:xfrm>
        </p:spPr>
        <p:txBody>
          <a:bodyPr anchor="t">
            <a:normAutofit/>
          </a:bodyPr>
          <a:lstStyle>
            <a:lvl1pPr>
              <a:defRPr sz="66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14975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4976" y="1604082"/>
            <a:ext cx="2788815" cy="3082218"/>
          </a:xfrm>
        </p:spPr>
        <p:txBody>
          <a:bodyPr vert="horz" lIns="91440" tIns="45720" rIns="91440" bIns="45720" rtlCol="0" anchor="t">
            <a:normAutofit/>
          </a:bodyPr>
          <a:lstStyle>
            <a:lvl1pPr marL="342900" indent="-342900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92816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7487" y="1916813"/>
            <a:ext cx="9144000" cy="32579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139" y="2611285"/>
            <a:ext cx="4122320" cy="1569204"/>
          </a:xfrm>
        </p:spPr>
        <p:txBody>
          <a:bodyPr anchor="t">
            <a:normAutofit/>
          </a:bodyPr>
          <a:lstStyle>
            <a:lvl1pPr>
              <a:defRPr sz="57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9144000" cy="1916813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246" y="2050551"/>
            <a:ext cx="204549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39176" y="2050551"/>
            <a:ext cx="1190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87461" y="2050551"/>
            <a:ext cx="39502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39176" y="2611285"/>
            <a:ext cx="2937077" cy="2074415"/>
          </a:xfrm>
        </p:spPr>
        <p:txBody>
          <a:bodyPr vert="horz" lIns="91440" tIns="45720" rIns="91440" bIns="45720" rtlCol="0">
            <a:normAutofit/>
          </a:bodyPr>
          <a:lstStyle>
            <a:lvl1pPr marL="2571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marL="171450" lvl="0" indent="-171450"/>
            <a:r>
              <a:rPr lang="ru-RU"/>
              <a:t>Образец текста</a:t>
            </a:r>
          </a:p>
          <a:p>
            <a:pPr marL="171450" lvl="1" indent="-171450"/>
            <a:r>
              <a:rPr lang="ru-RU"/>
              <a:t>Второй уровень</a:t>
            </a:r>
          </a:p>
          <a:p>
            <a:pPr marL="171450" lvl="2" indent="-171450"/>
            <a:r>
              <a:rPr lang="ru-RU"/>
              <a:t>Третий уровень</a:t>
            </a:r>
          </a:p>
          <a:p>
            <a:pPr marL="171450" lvl="3" indent="-171450"/>
            <a:r>
              <a:rPr lang="ru-RU"/>
              <a:t>Четвертый уровень</a:t>
            </a:r>
          </a:p>
          <a:p>
            <a:pPr marL="171450" lvl="4" indent="-171450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37660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4743451" y="1"/>
            <a:ext cx="4410941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139" y="957742"/>
            <a:ext cx="4033700" cy="739244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563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7721" y="161144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08" y="1853802"/>
            <a:ext cx="4033701" cy="27470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21590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3305175"/>
            <a:ext cx="6858000" cy="1838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175" y="1415034"/>
            <a:ext cx="2630992" cy="2425446"/>
          </a:xfrm>
        </p:spPr>
        <p:txBody>
          <a:bodyPr anchor="t"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56296"/>
            <a:ext cx="1899089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00550" y="156296"/>
            <a:ext cx="15131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2441" y="156296"/>
            <a:ext cx="41486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0551" y="1415034"/>
            <a:ext cx="3371850" cy="24254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76737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327" y="836676"/>
            <a:ext cx="1878948" cy="1218092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013036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30548" y="161867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682" y="161867"/>
            <a:ext cx="411954" cy="253746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327" y="2271392"/>
            <a:ext cx="1878948" cy="2557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30548" y="885825"/>
            <a:ext cx="6613452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4892464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3000375" cy="10143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2045948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5924" y="164592"/>
            <a:ext cx="1310831" cy="253746"/>
          </a:xfrm>
        </p:spPr>
        <p:txBody>
          <a:bodyPr/>
          <a:lstStyle/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0461" y="162210"/>
            <a:ext cx="413335" cy="253746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5924" y="828675"/>
            <a:ext cx="5193752" cy="1014387"/>
          </a:xfrm>
        </p:spPr>
        <p:txBody>
          <a:bodyPr>
            <a:normAutofit/>
          </a:bodyPr>
          <a:lstStyle>
            <a:lvl1pPr marL="214313" indent="-214313">
              <a:buFont typeface="Arial" panose="020B0604020202020204" pitchFamily="34" charset="0"/>
              <a:buNone/>
              <a:defRPr sz="1050"/>
            </a:lvl1pPr>
            <a:lvl2pPr marL="385763" indent="-214313">
              <a:buFont typeface="Arial" panose="020B0604020202020204" pitchFamily="34" charset="0"/>
              <a:buNone/>
              <a:defRPr sz="1050"/>
            </a:lvl2pPr>
            <a:lvl3pPr marL="557213" indent="-214313">
              <a:buFont typeface="Arial" panose="020B0604020202020204" pitchFamily="34" charset="0"/>
              <a:buNone/>
              <a:defRPr sz="1050"/>
            </a:lvl3pPr>
            <a:lvl4pPr marL="642938" indent="-128588">
              <a:buFont typeface="Arial" panose="020B0604020202020204" pitchFamily="34" charset="0"/>
              <a:buNone/>
              <a:defRPr sz="1050"/>
            </a:lvl4pPr>
            <a:lvl5pPr marL="814388" indent="-128588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03882"/>
            <a:ext cx="9144000" cy="2939618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4011198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1885950" cy="2189189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188595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67811" y="1"/>
            <a:ext cx="6576190" cy="298928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3058221"/>
            <a:ext cx="1440180" cy="253746"/>
          </a:xfrm>
        </p:spPr>
        <p:txBody>
          <a:bodyPr/>
          <a:lstStyle/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3058221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3317682"/>
            <a:ext cx="6315075" cy="1368618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115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1005" y="836677"/>
            <a:ext cx="3935683" cy="745598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200275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2434" y="156816"/>
            <a:ext cx="1383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00639" y="156816"/>
            <a:ext cx="416961" cy="253746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885825"/>
            <a:ext cx="3935683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1005" y="1600200"/>
            <a:ext cx="3935683" cy="3086100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841513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3" y="836676"/>
            <a:ext cx="2705753" cy="2377909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1144"/>
            <a:ext cx="1947830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4432" y="161144"/>
            <a:ext cx="1190033" cy="253746"/>
          </a:xfrm>
        </p:spPr>
        <p:txBody>
          <a:bodyPr/>
          <a:lstStyle/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208" y="161144"/>
            <a:ext cx="416961" cy="253746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4432" y="834504"/>
            <a:ext cx="5195243" cy="1475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77310" y="2625153"/>
            <a:ext cx="5466691" cy="2518348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3993037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2571751"/>
            <a:ext cx="1875980" cy="19139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9144000" cy="202882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2148968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2148968"/>
            <a:ext cx="1475509" cy="253746"/>
          </a:xfrm>
        </p:spPr>
        <p:txBody>
          <a:bodyPr/>
          <a:lstStyle/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2148968"/>
            <a:ext cx="416961" cy="253746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2571750"/>
            <a:ext cx="6157653" cy="225742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190734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673" y="836676"/>
            <a:ext cx="2702442" cy="1057409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29025" y="156816"/>
            <a:ext cx="1885950" cy="253746"/>
          </a:xfrm>
        </p:spPr>
        <p:txBody>
          <a:bodyPr/>
          <a:lstStyle/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4515" y="164592"/>
            <a:ext cx="423256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4673" y="2028825"/>
            <a:ext cx="2702442" cy="2771775"/>
          </a:xfrm>
        </p:spPr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1452" y="881743"/>
            <a:ext cx="5442548" cy="4261757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202999516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3455719"/>
            <a:ext cx="3314700" cy="1230581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435" y="1"/>
            <a:ext cx="3627590" cy="316064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55956" y="156816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2893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5957" y="828675"/>
            <a:ext cx="4312786" cy="38576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75782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836676"/>
            <a:ext cx="2329001" cy="1227383"/>
          </a:xfrm>
        </p:spPr>
        <p:txBody>
          <a:bodyPr anchor="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41641" y="161144"/>
            <a:ext cx="1902741" cy="253746"/>
          </a:xfrm>
        </p:spPr>
        <p:txBody>
          <a:bodyPr/>
          <a:lstStyle/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9630" y="161144"/>
            <a:ext cx="416961" cy="253746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63140"/>
            <a:ext cx="2563427" cy="288036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41642" y="828676"/>
            <a:ext cx="5607428" cy="400049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436391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9144000" cy="5148072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300" y="3811784"/>
            <a:ext cx="3000375" cy="876923"/>
          </a:xfrm>
        </p:spPr>
        <p:txBody>
          <a:bodyPr anchor="b">
            <a:normAutofit/>
          </a:bodyPr>
          <a:lstStyle>
            <a:lvl1pPr>
              <a:defRPr sz="1500" spc="-38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29300" y="156816"/>
            <a:ext cx="147801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0741" y="797719"/>
            <a:ext cx="7821215" cy="2631281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195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937143548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9144000" cy="36021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850392"/>
            <a:ext cx="7989570" cy="6858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4325" y="2164205"/>
            <a:ext cx="6600826" cy="2664970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4500" b="0" spc="-38" baseline="0">
                <a:solidFill>
                  <a:schemeClr val="tx1"/>
                </a:solidFill>
              </a:defRPr>
            </a:lvl1pPr>
            <a:lvl2pPr marL="171450" indent="0">
              <a:lnSpc>
                <a:spcPct val="85000"/>
              </a:lnSpc>
              <a:buNone/>
              <a:defRPr sz="3300" b="0" spc="-38" baseline="0">
                <a:solidFill>
                  <a:schemeClr val="tx1"/>
                </a:solidFill>
              </a:defRPr>
            </a:lvl2pPr>
            <a:lvl3pPr marL="342900" indent="0">
              <a:lnSpc>
                <a:spcPct val="85000"/>
              </a:lnSpc>
              <a:buNone/>
              <a:defRPr sz="3000" b="0" spc="-38" baseline="0">
                <a:solidFill>
                  <a:schemeClr val="tx1"/>
                </a:solidFill>
              </a:defRPr>
            </a:lvl3pPr>
            <a:lvl4pPr marL="514350" indent="0">
              <a:lnSpc>
                <a:spcPct val="85000"/>
              </a:lnSpc>
              <a:buNone/>
              <a:defRPr sz="2700" b="0" spc="-38" baseline="0">
                <a:solidFill>
                  <a:schemeClr val="tx1"/>
                </a:solidFill>
              </a:defRPr>
            </a:lvl4pPr>
            <a:lvl5pPr marL="685800" indent="0">
              <a:lnSpc>
                <a:spcPct val="85000"/>
              </a:lnSpc>
              <a:buNone/>
              <a:defRPr sz="2400" b="0" spc="-38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6127856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9144000" cy="51480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175" y="3655664"/>
            <a:ext cx="6379925" cy="499820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050" b="0" cap="all" spc="75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00175" y="1392072"/>
            <a:ext cx="6379925" cy="2141541"/>
          </a:xfrm>
        </p:spPr>
        <p:txBody>
          <a:bodyPr anchor="ctr">
            <a:normAutofit/>
          </a:bodyPr>
          <a:lstStyle>
            <a:lvl1pPr marL="123444" indent="-123444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3750" spc="-38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0741429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6286500" cy="5262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09118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090548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92" y="699073"/>
            <a:ext cx="8126654" cy="5280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401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991" y="1256710"/>
            <a:ext cx="3685439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713766"/>
            <a:ext cx="3675580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14875" y="1256710"/>
            <a:ext cx="3725771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9551" y="1713766"/>
            <a:ext cx="3737072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913768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3" y="835133"/>
            <a:ext cx="6285232" cy="65714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843151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837120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569214"/>
            <a:ext cx="5707251" cy="130115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4325" y="2028825"/>
            <a:ext cx="6600825" cy="221066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914042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2028579"/>
            <a:ext cx="4099245" cy="2050038"/>
          </a:xfrm>
        </p:spPr>
        <p:txBody>
          <a:bodyPr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29163" y="2028825"/>
            <a:ext cx="3307556" cy="11715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378594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529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7456807" cy="6571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63" y="1600200"/>
            <a:ext cx="7456807" cy="3228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4295" y="161144"/>
            <a:ext cx="2044782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00825" y="161144"/>
            <a:ext cx="1440180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8743" y="161144"/>
            <a:ext cx="416961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2770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  <p:sldLayoutId id="2147483769" r:id="rId19"/>
    <p:sldLayoutId id="2147483770" r:id="rId20"/>
    <p:sldLayoutId id="2147483771" r:id="rId21"/>
    <p:sldLayoutId id="2147483772" r:id="rId22"/>
    <p:sldLayoutId id="2147483773" r:id="rId23"/>
    <p:sldLayoutId id="2147483774" r:id="rId24"/>
    <p:sldLayoutId id="2147483775" r:id="rId25"/>
    <p:sldLayoutId id="2147483776" r:id="rId26"/>
    <p:sldLayoutId id="2147483777" r:id="rId27"/>
    <p:sldLayoutId id="2147483778" r:id="rId28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250" b="0" kern="1200" spc="-8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SeedLM: веса языковой модели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зёрна генератора случайных чисел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статье Shafipour и др. (Apple, Meta), arXiv:2410.10714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Воспроизведение на Qwen3-8B и Qwen3-14B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текста упирается в чтение весов из памяти, а не в вычисления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1732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получить один токен, модель читает из памяти все свои веса.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каждый прочитанный байт приходится мало вычислений, поэтому скорость задаёт пропускная способность памяти, а не число умножителей.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 8 бит из DRAM дороже 8-битного умножения по энергии примерно в 800 раз (оценка для 45 нм, Horowitz, 2014).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417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статьи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73736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ли обменять немного лишних вычислений на меньшее число обращений к памяти?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SeedLM хранит вместо 8 весов одно зерно и три числа: 32 бита вместо 128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Обычное хранение: 8 весов по 16 бит = 128 бит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4859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859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146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146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5433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433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007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6007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6294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294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58100" y="1691640"/>
            <a:ext cx="992124" cy="502920"/>
          </a:xfrm>
          <a:prstGeom prst="rect">
            <a:avLst/>
          </a:prstGeom>
          <a:solidFill>
            <a:srgbClr val="C9CE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58100" y="169164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2606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SeedLM: 32 бита, в 4 раза меньше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2926080"/>
            <a:ext cx="992124" cy="502920"/>
          </a:xfrm>
          <a:prstGeom prst="rect">
            <a:avLst/>
          </a:prstGeom>
          <a:solidFill>
            <a:srgbClr val="1F4E9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926080"/>
            <a:ext cx="9921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485900" y="2926080"/>
            <a:ext cx="220599" cy="502920"/>
          </a:xfrm>
          <a:prstGeom prst="rect">
            <a:avLst/>
          </a:prstGeom>
          <a:solidFill>
            <a:srgbClr val="8A94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85900" y="2926080"/>
            <a:ext cx="2205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743075" y="2926080"/>
            <a:ext cx="220599" cy="502920"/>
          </a:xfrm>
          <a:prstGeom prst="rect">
            <a:avLst/>
          </a:prstGeom>
          <a:solidFill>
            <a:srgbClr val="5F6B7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743075" y="2926080"/>
            <a:ext cx="2205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2000250" y="2926080"/>
            <a:ext cx="220599" cy="502920"/>
          </a:xfrm>
          <a:prstGeom prst="rect">
            <a:avLst/>
          </a:prstGeom>
          <a:solidFill>
            <a:srgbClr val="3C46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0250" y="2926080"/>
            <a:ext cx="2205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257425" y="2926080"/>
            <a:ext cx="220599" cy="502920"/>
          </a:xfrm>
          <a:prstGeom prst="rect">
            <a:avLst/>
          </a:prstGeom>
          <a:solidFill>
            <a:srgbClr val="5F6B7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57425" y="2926080"/>
            <a:ext cx="2205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seed: 16 бит  ·  e: общий экспонент, 4 бита  ·  q: три коэффициента, по 4 бита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≈ U(seed) · t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Матрицу U не хранят: её выдаёт регистр LFSR по seed (следующий слайд). Хранятся только seed и коэффициенты 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U не хранится: её выдаёт регистр сдвига LFSR по seed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Состояния 4-битного LFSR идут по кругу (всего 15, нулевого нет):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4206240" cy="1152144"/>
        </p:xfrm>
        <a:graphic>
          <a:graphicData uri="http://schemas.openxmlformats.org/drawingml/2006/table">
            <a:tbl>
              <a:tblPr/>
              <a:tblGrid>
                <a:gridCol w="841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9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35204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= 5 (выделен). Берём 8 следующих значений: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11, 7, 15, 14, 12, 8, 1, 2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0" y="1371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Нормируем: U = (v − 8) / 7 и раскладываем по строкам: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920240"/>
          <a:ext cx="2194560" cy="153619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0" y="36576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статье K = 16: цикл из 65 535 состояний и матрица 8×3. Каждый seed даёт свою воспроизводимую «случайную» матрицу.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каждого блока перебирают все seed: чем их больше, тем меньше ошибка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1732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Берём матрицу U(s) для seed s.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Находим коэффициенты t методом наименьших квадратов.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Округляем t до 4-битных чисел с общим экспонентом.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Считаем ошибку ‖w − U·t̂‖² и повторяем для всех seed, оставляем лучший.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Перебор идёт для каждого блока (около 2 млн блоков в одной матрице 4096×4096). Это делается один раз при сжатии.</a:t>
            </a:r>
            <a:endParaRPr lang="en-US" sz="13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663440" y="1325880"/>
          <a:ext cx="40233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7548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График: </a:t>
            </a:r>
            <a:r>
              <a:rPr lang="en-US" sz="1000" dirty="0" err="1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расчёт</a:t>
            </a: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гауссовых блоках, для каждого K взята лучшая конфигурация (C, P).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блока, число коэффициентов и длина seed делят один бюджет бит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(K + 4 + 4P) / C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- длина seed, 4 - общий экспонент, P - число коэффициентов, C - число весов в блоке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7315200" cy="115214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 на вес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(16 + 4 + 12) / 8 =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(16 + 4 + 16) / 12 =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023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K - больше выбор матриц, но seed занимает биты. Больше P - блок точнее, но коэффициенты занимают биты. Авторы нашли баланс численным перебором.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данных SeedLM сохраняет 98% точности Llama 3 70B при 4 битах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fig1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760720" cy="290251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1371600"/>
            <a:ext cx="2194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по 5 задачам, Llama 3 70B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бита: SeedLM 97,9%, AWQ 90,7%, OmniQuant 42,4%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бита: SeedLM 93,4%, AWQ 76,7%, OmniQuant 41,8%</a:t>
            </a:r>
            <a:endParaRPr lang="en-US" sz="1400" dirty="0"/>
          </a:p>
          <a:p>
            <a:pPr marL="0" indent="0">
              <a:buNone/>
            </a:pPr>
            <a:r>
              <a:rPr lang="en-US" sz="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= точность сжатой модели / точность FP16.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Рисунок: Рис. 1 из статьи (arXiv:2410.10714).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FPGA веса читаются в 4 раза быстрее, но схема получается заметно больше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fig4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4754880" cy="188400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FP16: шина отдаёт 32 веса за такт, работают 32 из 128 умножителей.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SeedLM: 128 весов за такт, работают все 128.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371600"/>
          <a:ext cx="3017520" cy="131673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Матрица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Ускорение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× 512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 × 1024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 × 2048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3108960"/>
          <a:ext cx="3017520" cy="131673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Ресурс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120 105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154,5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3"/>
          <p:cNvSpPr txBox="1"/>
          <p:nvPr/>
        </p:nvSpPr>
        <p:spPr>
          <a:xfrm>
            <a:off x="457200" y="47548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Рис. 4 и Табл. 4, 5 статьи. Измерено авторами на Virtex-7 (XC7V585T); мы это не воспроизводили.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QuIP# и OmniQuant точнее SeedLM, особенно на 3 битах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280160"/>
          <a:ext cx="82296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7548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Retained: среднее zero-shot по 5 задачам относительно BF16, %. Qwen3-8B и Qwen3-14B, один запуск.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QuIP# теряет в перплексии 2–7%, </a:t>
            </a:r>
            <a:r>
              <a:rPr lang="en-US" sz="2600" b="1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SeedLM</a:t>
            </a: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от 6 до 68%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285292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 на вес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8B, 4 бита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14B, 4 бита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8B, 3 бита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14B, 3 бита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QuIP#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/ 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OmniQuant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/ 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/ 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F4E9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/ 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RTN на канал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 / 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RTN, группа 128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 / 3,25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434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Перплексия WikiText-2, </a:t>
            </a:r>
            <a:r>
              <a:rPr lang="en-US" sz="1200" dirty="0" err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</a:t>
            </a: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лучше. RTN с группой 128 занимает на 0,25 бита больше остальных. SeedLM и RTN не используют калибровочные данные, остальные методы используют.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A100 наша реализация SeedLM медленнее BF16 примерно в 5 раз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280160"/>
          <a:ext cx="512064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852160" y="1371600"/>
            <a:ext cx="2834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Декодирование из seed упирается в вычисления, а не в память: 24 чтения таблицы LFSR и около сотни операций на 8 весов.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Даже простое int4-ядро не быстрее BF16: наши ядра не оптимизированы, это нижняя оценка.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Утверждение «в 4 раза» относится к FPGA и нами не проверялось.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754880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1, NVIDIA A100, медиана по 50 запускам. 17408 × 5120 - размер матрицы MLP у Qwen3-14B.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SeedLM работает без данных, но по качеству уступает QuIP# и OmniQuant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4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подтвердилось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8308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4 битах SeedLM без данных сохраняет 95–99% точности BF16 (Qwen3-8B, 14B).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лучше RTN без групп, а на 3 битах лучше AWQ по zero-shot.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Сжатие быстрое: 8B за 11 минут, 14B за 21 минуту на одной A100.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нет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78308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QuIP# и OmniQuant точнее: на 3 битах перплексия +7% и +42–46% против +49–68% у SeedLM.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RTN с группой 128 не хуже SeedLM на 4 битах, но занимает на 0,25 бита больше.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A100 SeedLM медленнее BF16 в 5 раз; ускорение на FPGA мы не проверяли.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Запись фильма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1</TotalTime>
  <Words>1837</Words>
  <Application>Microsoft Macintosh PowerPoint</Application>
  <PresentationFormat>Экран (16:9)</PresentationFormat>
  <Paragraphs>221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Neue Haas Grotesk Text Pro</vt:lpstr>
      <vt:lpstr>Запись фильма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SeedLM: веса языковой модели как зёрна генератора случайных чисел</dc:title>
  <dc:subject>PptxGenJS Presentation</dc:subject>
  <dc:creator>PptxGenJS</dc:creator>
  <cp:lastModifiedBy>Данат Карасаев</cp:lastModifiedBy>
  <cp:revision>3</cp:revision>
  <dcterms:created xsi:type="dcterms:W3CDTF">2026-10-07T19:20:59Z</dcterms:created>
  <dcterms:modified xsi:type="dcterms:W3CDTF">2026-10-09T07:54:43Z</dcterms:modified>
</cp:coreProperties>
</file>