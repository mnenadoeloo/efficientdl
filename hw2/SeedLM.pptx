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Средняя точность, %</c:v>
                </c:pt>
              </c:strCache>
            </c:strRef>
          </c:tx>
          <c:spPr>
            <a:solidFill>
              <a:srgbClr val="5B6B8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6B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9BC-2A4C-8B66-9D692A4D30CE}"/>
              </c:ext>
            </c:extLst>
          </c:dPt>
          <c:dPt>
            <c:idx val="1"/>
            <c:invertIfNegative val="0"/>
            <c:bubble3D val="0"/>
            <c:spPr>
              <a:solidFill>
                <a:srgbClr val="F2A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9BC-2A4C-8B66-9D692A4D30CE}"/>
              </c:ext>
            </c:extLst>
          </c:dPt>
          <c:dPt>
            <c:idx val="2"/>
            <c:invertIfNegative val="0"/>
            <c:bubble3D val="0"/>
            <c:spPr>
              <a:solidFill>
                <a:srgbClr val="B8C2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9BC-2A4C-8B66-9D692A4D30CE}"/>
              </c:ext>
            </c:extLst>
          </c:dPt>
          <c:dPt>
            <c:idx val="3"/>
            <c:invertIfNegative val="0"/>
            <c:bubble3D val="0"/>
            <c:spPr>
              <a:solidFill>
                <a:srgbClr val="B8C2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9BC-2A4C-8B66-9D692A4D30CE}"/>
              </c:ext>
            </c:extLst>
          </c:dPt>
          <c:dPt>
            <c:idx val="4"/>
            <c:invertIfNegative val="0"/>
            <c:bubble3D val="0"/>
            <c:spPr>
              <a:solidFill>
                <a:srgbClr val="B8C2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9BC-2A4C-8B66-9D692A4D30C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FP16</c:v>
                </c:pt>
                <c:pt idx="1">
                  <c:v>SeedLM</c:v>
                </c:pt>
                <c:pt idx="2">
                  <c:v>QuIP#</c:v>
                </c:pt>
                <c:pt idx="3">
                  <c:v>AWQ</c:v>
                </c:pt>
                <c:pt idx="4">
                  <c:v>OmniQuant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68.739999999999995</c:v>
                </c:pt>
                <c:pt idx="1">
                  <c:v>64.48</c:v>
                </c:pt>
                <c:pt idx="2">
                  <c:v>55.85</c:v>
                </c:pt>
                <c:pt idx="3">
                  <c:v>52.46</c:v>
                </c:pt>
                <c:pt idx="4">
                  <c:v>38.46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9BC-2A4C-8B66-9D692A4D30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233"/>
                </a:solidFill>
                <a:latin typeface="Arial"/>
              </a:defRPr>
            </a:pPr>
            <a:r>
              <a:rPr lang="ru-RU" sz="1200" b="0" i="0" u="none" strike="noStrike">
                <a:solidFill>
                  <a:srgbClr val="1A2233"/>
                </a:solidFill>
                <a:latin typeface="Arial"/>
              </a:rPr>
              <a:t>Ускорение матрично-векторного умножения, ×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Ускорение</c:v>
                </c:pt>
              </c:strCache>
            </c:strRef>
          </c:tx>
          <c:spPr>
            <a:solidFill>
              <a:srgbClr val="2BB3A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512×512</c:v>
                </c:pt>
                <c:pt idx="1">
                  <c:v>1024×1024</c:v>
                </c:pt>
                <c:pt idx="2">
                  <c:v>2048×2048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3.67</c:v>
                </c:pt>
                <c:pt idx="1">
                  <c:v>3.92</c:v>
                </c:pt>
                <c:pt idx="2">
                  <c:v>3.98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6-B447-98BD-9B604A6627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9525" cap="flat">
              <a:solidFill>
                <a:srgbClr val="E3E7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7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Доклад по статье Shafipour et al. (Apple, Meta), arXiv:2410.10714, октябрь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Генерация токенов — memory-bound. Чтение из DRAM намного дороже арифметики.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Центральный слайд. Блок весов ≈ U(seed)·t. В памяти только seed и коэффициенты.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Сдвиговый регистр с обратной связью. Дёшев в кремнии: триггеры и XOR.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M = (K + 4 + 4P)/C и выбранные конфигурации.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Перебор всех 65535 seed на каждый блок; псевдообратные матрицы заранее.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Авторы выбрали параметры перебором на гауссовых векторах.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 3 тяжелее всего сжимается; OmniQuant «ломается».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 2 7B, среднее по ARC-E, ARC-C, HellaSwag, WinoGrande, BoolQ.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Шина DDR 64 байта за такт. FP16: 32 веса, 4 бита: 128 весов.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Честный слайд: ускорение не бесплатное.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Критический взгляд на статью.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тезиса для запоминания.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2A33A"/>
                </a:solidFill>
                <a:latin typeface="+mj-lt"/>
                <a:ea typeface="Cambria" pitchFamily="34" charset="-122"/>
                <a:cs typeface="Times New Roman" panose="02020603050405020304" pitchFamily="18" charset="0"/>
              </a:rPr>
              <a:t>SeedLM</a:t>
            </a:r>
            <a:endParaRPr lang="en-US" sz="6000" dirty="0">
              <a:latin typeface="+mj-lt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Сжатие весов LLM </a:t>
            </a:r>
            <a:r>
              <a:rPr lang="en-US" sz="2600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</a:t>
            </a: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seeds псевдослучайных генераторов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D6"/>
                </a:solidFill>
              </a:rPr>
              <a:t>Shafipour, Harrison, Horton, Marker, Bedayat, Mehta, Rastegari, Najibi, Naderiparizi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2D6"/>
                </a:solidFill>
              </a:rPr>
              <a:t>Apple · Meta · arXiv:2410.10714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Инференс LLM упирается в память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800×</a:t>
            </a:r>
            <a:endParaRPr lang="en-US" sz="9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651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233"/>
                </a:solidFill>
              </a:rPr>
              <a:t>чтение 8 бит из DRAM дороже 8-битного умножения по энергии (45 нм, Horowitz 2014)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983480" y="14630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F1B2D"/>
                </a:solidFill>
              </a:rPr>
              <a:t>Главный вопрос статьи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A2233"/>
                </a:solidFill>
              </a:rPr>
              <a:t>Можно ли обменять немного лишних вычислений на меньшее число обращений к памяти?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85"/>
                </a:solidFill>
              </a:rPr>
              <a:t>Обычное сжатие (AWQ, GPTQ, QuIP#) требует калибровочных данных. </a:t>
            </a:r>
            <a:r>
              <a:rPr lang="en-US" sz="1400" dirty="0" err="1">
                <a:solidFill>
                  <a:srgbClr val="5B6B85"/>
                </a:solidFill>
              </a:rPr>
              <a:t>SeedLM</a:t>
            </a:r>
            <a:r>
              <a:rPr lang="en-US" sz="1400" dirty="0">
                <a:solidFill>
                  <a:srgbClr val="5B6B85"/>
                </a:solidFill>
              </a:rPr>
              <a:t> - нет.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AAF"/>
                </a:solidFill>
              </a:rPr>
              <a:t>SeedLM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Идея: хранить не веса, </a:t>
            </a:r>
            <a:r>
              <a:rPr lang="en-US" sz="3000" b="1" dirty="0" err="1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554480"/>
            <a:ext cx="1737360" cy="1005840"/>
          </a:xfrm>
          <a:prstGeom prst="roundRect">
            <a:avLst>
              <a:gd name="adj" fmla="val 5455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54480"/>
            <a:ext cx="17373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 = 16 бит)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2286000" y="15316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B3A3"/>
                </a:solidFill>
              </a:rPr>
              <a:t>LFSR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1920240"/>
            <a:ext cx="914400" cy="274320"/>
          </a:xfrm>
          <a:prstGeom prst="rightArrow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46120" y="1554480"/>
            <a:ext cx="1828800" cy="1005840"/>
          </a:xfrm>
          <a:prstGeom prst="roundRect">
            <a:avLst>
              <a:gd name="adj" fmla="val 5455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46120" y="1554480"/>
            <a:ext cx="18288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U(s)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P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155448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B2D"/>
                </a:solidFill>
              </a:rPr>
              <a:t>×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5486400" y="1554480"/>
            <a:ext cx="1371600" cy="1005840"/>
          </a:xfrm>
          <a:prstGeom prst="roundRect">
            <a:avLst>
              <a:gd name="adj" fmla="val 5455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0" y="1554480"/>
            <a:ext cx="137160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Коэфф. 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× 4 бита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155448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B2D"/>
                </a:solidFill>
              </a:rPr>
              <a:t>≈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7269480" y="1554480"/>
            <a:ext cx="1417320" cy="1005840"/>
          </a:xfrm>
          <a:prstGeom prst="roundRect">
            <a:avLst>
              <a:gd name="adj" fmla="val 5455"/>
            </a:avLst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69480" y="155448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w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весов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3017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</a:rPr>
              <a:t>В памяти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seed + 4-битный экспонент + P коэффициентов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75488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30175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</a:rPr>
              <a:t>Во время инференса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LFSR заново порождает U(s) на лету: вычисления вместо чтения памяти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AAF"/>
                </a:solidFill>
              </a:rPr>
              <a:t>SeedLM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LFSR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85800" cy="731520"/>
          </a:xfrm>
          <a:prstGeom prst="roundRect">
            <a:avLst>
              <a:gd name="adj" fmla="val 8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63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1307592" y="1463040"/>
            <a:ext cx="685800" cy="7315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07592" y="1463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066544" y="1463040"/>
            <a:ext cx="685800" cy="7315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66544" y="1463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825496" y="1463040"/>
            <a:ext cx="685800" cy="7315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25496" y="1463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584448" y="1463040"/>
            <a:ext cx="685800" cy="7315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84448" y="1463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343400" y="1463040"/>
            <a:ext cx="685800" cy="731520"/>
          </a:xfrm>
          <a:prstGeom prst="roundRect">
            <a:avLst>
              <a:gd name="adj" fmla="val 8000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43400" y="1463040"/>
            <a:ext cx="685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377440" y="2651760"/>
            <a:ext cx="502920" cy="50292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3774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⊕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337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</a:rPr>
              <a:t>XOR отдельных битов (примитивный полином над GF(2)) → новый бит слева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0" y="1280160"/>
            <a:ext cx="3017520" cy="3108960"/>
          </a:xfrm>
          <a:prstGeom prst="roundRect">
            <a:avLst>
              <a:gd name="adj" fmla="val 242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852160" y="1417320"/>
            <a:ext cx="2697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B2D"/>
                </a:solidFill>
              </a:rPr>
              <a:t>Свойства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Простой: триггеры + XOR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Цикл 2^K - 1 состояний (без нуля)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Seed ≠ 0 задаёт начало в цикле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При K = 16 таблица состояний ≈ 130 КБ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AAF"/>
                </a:solidFill>
              </a:rPr>
              <a:t>SeedLM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бит занимает блок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(K + 4 + 4P) / C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</a:rPr>
              <a:t>K - бит на seed  |  4 - общий </a:t>
            </a:r>
            <a:r>
              <a:rPr lang="en-US" sz="1400" dirty="0" err="1">
                <a:solidFill>
                  <a:srgbClr val="5B6B85"/>
                </a:solidFill>
              </a:rPr>
              <a:t>экспонент</a:t>
            </a:r>
            <a:r>
              <a:rPr lang="en-US" sz="1400" dirty="0">
                <a:solidFill>
                  <a:srgbClr val="5B6B85"/>
                </a:solidFill>
              </a:rPr>
              <a:t>  |  4P - P коэффициентов по 4 </a:t>
            </a:r>
            <a:r>
              <a:rPr lang="en-US" sz="1400" dirty="0" err="1">
                <a:solidFill>
                  <a:srgbClr val="5B6B85"/>
                </a:solidFill>
              </a:rPr>
              <a:t>бита</a:t>
            </a:r>
            <a:r>
              <a:rPr lang="en-US" sz="1400" dirty="0">
                <a:solidFill>
                  <a:srgbClr val="5B6B85"/>
                </a:solidFill>
              </a:rPr>
              <a:t>  |  C - элементов в блоке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2560320"/>
          <a:ext cx="4572000" cy="1371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Бит на вес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</a:rPr>
              <a:t>Проверка для 4 бит: (16 + 4 + 12) / 8 = 4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AAF"/>
                </a:solidFill>
              </a:rPr>
              <a:t>SeedLM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найти лучший seed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19659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Взять seed j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из 1 … 2^K - 1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87752" y="137160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87752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30552" y="19659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76272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Проекция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t = U(j)† · w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61104" y="137160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61104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803904" y="19659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49624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Квантовать t: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4 бита + экспонент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34456" y="1371600"/>
            <a:ext cx="457200" cy="457200"/>
          </a:xfrm>
          <a:prstGeom prst="ellipse">
            <a:avLst/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34456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77256" y="19659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22976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Ошибка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‖w − U·t̂‖²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607808" y="137160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07808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150608" y="1965960"/>
            <a:ext cx="1508760" cy="1188720"/>
          </a:xfrm>
          <a:prstGeom prst="roundRect">
            <a:avLst>
              <a:gd name="adj" fmla="val 615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96328" y="1965960"/>
            <a:ext cx="141732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Взять seed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233"/>
                </a:solidFill>
              </a:rPr>
              <a:t>с минимумом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Точная задача NP-</a:t>
            </a:r>
            <a:r>
              <a:rPr lang="en-US" sz="1400" dirty="0" err="1">
                <a:solidFill>
                  <a:srgbClr val="1A2233"/>
                </a:solidFill>
              </a:rPr>
              <a:t>трудна</a:t>
            </a:r>
            <a:r>
              <a:rPr lang="en-US" sz="1400" dirty="0">
                <a:solidFill>
                  <a:srgbClr val="1A2233"/>
                </a:solidFill>
              </a:rPr>
              <a:t> -&gt; эвристика с полным перебором seed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Псевдообратные матрицы всех seed кэшируются (≤ 6,3 МБ), блоки считаются параллельно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Данные не нужны: </a:t>
            </a:r>
            <a:r>
              <a:rPr lang="en-US" sz="1400" dirty="0" err="1">
                <a:solidFill>
                  <a:srgbClr val="1A2233"/>
                </a:solidFill>
              </a:rPr>
              <a:t>сжатие</a:t>
            </a:r>
            <a:r>
              <a:rPr lang="en-US" sz="1400" dirty="0">
                <a:solidFill>
                  <a:srgbClr val="1A2233"/>
                </a:solidFill>
              </a:rPr>
              <a:t> - детерминированный офлайн-алгоритм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AAF"/>
                </a:solidFill>
              </a:rPr>
              <a:t>SeedLM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Компромисс между K, P и C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35608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35608"/>
            <a:ext cx="10058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↑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2801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больше вариантов </a:t>
            </a:r>
            <a:r>
              <a:rPr lang="en-US" sz="1500" dirty="0" err="1">
                <a:solidFill>
                  <a:srgbClr val="1A2233"/>
                </a:solidFill>
              </a:rPr>
              <a:t>подпространств</a:t>
            </a:r>
            <a:r>
              <a:rPr lang="en-US" sz="1500" dirty="0">
                <a:solidFill>
                  <a:srgbClr val="1A2233"/>
                </a:solidFill>
              </a:rPr>
              <a:t> -&gt; меньше ошибка, но seed съедает биты у P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487168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487168"/>
            <a:ext cx="10058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↑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233172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блок захватывает больше энергии, но коэффициенты стоят битов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3538728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5B6B85"/>
          </a:solidFill>
          <a:ln w="12700">
            <a:solidFill>
              <a:srgbClr val="5B6B8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538728"/>
            <a:ext cx="10058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↑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874520" y="33832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233"/>
                </a:solidFill>
              </a:rPr>
              <a:t>бюджет бит растёт, но проекции «размываются» и ошибка больше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</a:rPr>
              <a:t>Оптимум ищется сеточным перебором: C, P, K — положительные целые при заданном 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Результаты: перплексия WikiText-2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96265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2-7B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2-13B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2-70B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3-8B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3-70B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OmniQuant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QuIP#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QuIP#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5B6B85"/>
                </a:solidFill>
              </a:rPr>
              <a:t>Меньше</a:t>
            </a:r>
            <a:r>
              <a:rPr lang="en-US" sz="1300" dirty="0">
                <a:solidFill>
                  <a:srgbClr val="5B6B85"/>
                </a:solidFill>
              </a:rPr>
              <a:t> - лучше. Без калибровочных данных SeedLM обгоняет AWQ, OmniQuant, QuIP#. На Llama 3 70B при 3 битах: 5,7 против 11,6 у AWQ.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точность при 3 битах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09728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126480" y="12801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64,5</a:t>
            </a:r>
            <a:endParaRPr lang="en-US" sz="6400" dirty="0"/>
          </a:p>
        </p:txBody>
      </p:sp>
      <p:sp>
        <p:nvSpPr>
          <p:cNvPr id="6" name="Text 2"/>
          <p:cNvSpPr txBox="1"/>
          <p:nvPr/>
        </p:nvSpPr>
        <p:spPr>
          <a:xfrm>
            <a:off x="6126480" y="24688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SeedLM при 3 битах, без данных. FP16 даёт 68,7; AWQ - 52,5; </a:t>
            </a:r>
            <a:r>
              <a:rPr lang="en-US" sz="1400" dirty="0" err="1">
                <a:solidFill>
                  <a:srgbClr val="1A2233"/>
                </a:solidFill>
              </a:rPr>
              <a:t>OmniQuant</a:t>
            </a:r>
            <a:r>
              <a:rPr lang="en-US" sz="1400" dirty="0">
                <a:solidFill>
                  <a:srgbClr val="1A2233"/>
                </a:solidFill>
              </a:rPr>
              <a:t> - 38,5.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126480" y="3657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</a:rPr>
              <a:t>На Llama 3 70B при 4 битах сохраняется ≈ 97,9% точности FP16.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Железо: прототип на FPGA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265176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</a:rPr>
              <a:t>Референс FP16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32 веса за </a:t>
            </a:r>
            <a:r>
              <a:rPr lang="en-US" sz="1400" dirty="0" err="1">
                <a:solidFill>
                  <a:srgbClr val="1A2233"/>
                </a:solidFill>
              </a:rPr>
              <a:t>такт</a:t>
            </a:r>
            <a:r>
              <a:rPr lang="en-US" sz="1400" dirty="0">
                <a:solidFill>
                  <a:srgbClr val="1A2233"/>
                </a:solidFill>
              </a:rPr>
              <a:t> </a:t>
            </a:r>
            <a:r>
              <a:rPr lang="ru-RU" sz="1400" dirty="0">
                <a:solidFill>
                  <a:srgbClr val="1A2233"/>
                </a:solidFill>
              </a:rPr>
              <a:t>-</a:t>
            </a:r>
            <a:r>
              <a:rPr lang="en-US" sz="1400" dirty="0">
                <a:solidFill>
                  <a:srgbClr val="1A2233"/>
                </a:solidFill>
              </a:rPr>
              <a:t>&gt; занято 32 из 128 MAC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43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</a:rPr>
              <a:t>SeedLM, 4 бита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A2233"/>
                </a:solidFill>
              </a:rPr>
              <a:t>128 весов за </a:t>
            </a:r>
            <a:r>
              <a:rPr lang="en-US" sz="1400" dirty="0" err="1">
                <a:solidFill>
                  <a:srgbClr val="1A2233"/>
                </a:solidFill>
              </a:rPr>
              <a:t>такт</a:t>
            </a:r>
            <a:r>
              <a:rPr lang="en-US" sz="1400" dirty="0">
                <a:solidFill>
                  <a:srgbClr val="1A2233"/>
                </a:solidFill>
              </a:rPr>
              <a:t> -&gt; заняты все 128 MAC (теор. 4×)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663440" y="109728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5"/>
                </a:solidFill>
              </a:rPr>
              <a:t>AMD Virtex-7 XC7V585T, 200 МГц. С ростом матрицы </a:t>
            </a:r>
            <a:r>
              <a:rPr lang="en-US" sz="1300" dirty="0" err="1">
                <a:solidFill>
                  <a:srgbClr val="5B6B85"/>
                </a:solidFill>
              </a:rPr>
              <a:t>ускорение</a:t>
            </a:r>
            <a:r>
              <a:rPr lang="en-US" sz="1300" dirty="0">
                <a:solidFill>
                  <a:srgbClr val="5B6B85"/>
                </a:solidFill>
              </a:rPr>
              <a:t> -&gt; 4×.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Цена: площадь на кристалле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08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×5,8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468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233"/>
                </a:solidFill>
              </a:rPr>
              <a:t>LUT: 20,8K → 120K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4612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46120" y="1508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×14,7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2468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233"/>
                </a:solidFill>
              </a:rPr>
              <a:t>BRAM: 10,5 → 154,5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35040" y="13716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150876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BB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×4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2468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233"/>
                </a:solidFill>
              </a:rPr>
              <a:t>DSP (MAC): 32 → 128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Распаковка LFSR: ≈ 67K LUT и 144 BRAM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128 конвертеров fixed → FP16: ≈ 12K LUT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233"/>
                </a:solidFill>
              </a:rPr>
              <a:t>Расчёт в фиксированной точке мог бы убрать конвертеры (вне рамок статьи)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Только FPGA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233"/>
                </a:solidFill>
              </a:rPr>
              <a:t>Нет замеров на GPU и end-to-end инференса — «4×» относится к доступу к памяти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46320" y="13716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Время сжатия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233"/>
                </a:solidFill>
              </a:rPr>
              <a:t>Полный </a:t>
            </a:r>
            <a:r>
              <a:rPr lang="en-US" sz="1300" dirty="0" err="1">
                <a:solidFill>
                  <a:srgbClr val="1A2233"/>
                </a:solidFill>
              </a:rPr>
              <a:t>перебор</a:t>
            </a:r>
            <a:r>
              <a:rPr lang="en-US" sz="1300" dirty="0">
                <a:solidFill>
                  <a:srgbClr val="1A2233"/>
                </a:solidFill>
              </a:rPr>
              <a:t> 65535 seed на каждый блок; время в статье не указано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Нет файн-тюнинга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233"/>
                </a:solidFill>
              </a:rPr>
              <a:t>Авторы лишь предполагают, что он улучшит результат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30175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0F1B2D"/>
                </a:solidFill>
              </a:rPr>
              <a:t>Llama 3 </a:t>
            </a:r>
            <a:r>
              <a:rPr lang="ru-RU" sz="1700" b="1" dirty="0">
                <a:solidFill>
                  <a:srgbClr val="0F1B2D"/>
                </a:solidFill>
              </a:rPr>
              <a:t>слишком тяжелая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2233"/>
                </a:solidFill>
              </a:rPr>
              <a:t>Потери заметнее, особенно на малых моделях и при 3 битах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Data-free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</a:rPr>
              <a:t>Сжатие без калибровочных данных, детерминированный алгоритм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33756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98%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3337560" y="24231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</a:rPr>
              <a:t>точности FP16 на Llama 3 70B при 4 битах; лучше AWQ и OmniQuant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5544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4×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242316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5"/>
                </a:solidFill>
              </a:rPr>
              <a:t>ускорение доступа к памяти на FPGA за счёт LFSR вместо чтения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C2D6"/>
                </a:solidFill>
              </a:rPr>
              <a:t>Идея: вычисления дёшевы, память дорога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5400" b="1" dirty="0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</a:t>
            </a:r>
            <a:r>
              <a:rPr lang="ru-RU" sz="5400" b="1">
                <a:solidFill>
                  <a:srgbClr val="F2A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внимание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2D6"/>
                </a:solidFill>
              </a:rPr>
              <a:t>Shafipour et al., SeedLM: Compressing LLM Weights into Seeds of Pseudo-Random Generators, arXiv:2410.10714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edLM">
  <a:themeElements>
    <a:clrScheme name="SeedLM">
      <a:dk1>
        <a:srgbClr val="1A2233"/>
      </a:dk1>
      <a:lt1>
        <a:srgbClr val="FFFFFF"/>
      </a:lt1>
      <a:dk2>
        <a:srgbClr val="0F1B2D"/>
      </a:dk2>
      <a:lt2>
        <a:srgbClr val="F3F5F8"/>
      </a:lt2>
      <a:accent1>
        <a:srgbClr val="F2A33A"/>
      </a:accent1>
      <a:accent2>
        <a:srgbClr val="2BB3A3"/>
      </a:accent2>
      <a:accent3>
        <a:srgbClr val="5B6B85"/>
      </a:accent3>
      <a:accent4>
        <a:srgbClr val="D9534F"/>
      </a:accent4>
      <a:accent5>
        <a:srgbClr val="7FA6E0"/>
      </a:accent5>
      <a:accent6>
        <a:srgbClr val="8E9AAF"/>
      </a:accent6>
      <a:hlink>
        <a:srgbClr val="2BB3A3"/>
      </a:hlink>
      <a:folHlink>
        <a:srgbClr val="5B6B85"/>
      </a:folHlink>
    </a:clrScheme>
    <a:fontScheme name="SeedL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996</Words>
  <Application>Microsoft Macintosh PowerPoint</Application>
  <PresentationFormat>Экран (16:9)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SeedLM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SeedLM: Compressing LLM Weights into Seeds of Pseudo-Random Generators</dc:title>
  <dc:subject>PptxGenJS Presentation</dc:subject>
  <dc:creator>PptxGenJS</dc:creator>
  <cp:lastModifiedBy>Данат Карасаев</cp:lastModifiedBy>
  <cp:revision>3</cp:revision>
  <dcterms:created xsi:type="dcterms:W3CDTF">2026-10-02T20:52:19Z</dcterms:created>
  <dcterms:modified xsi:type="dcterms:W3CDTF">2026-10-02T21:20:01Z</dcterms:modified>
</cp:coreProperties>
</file>